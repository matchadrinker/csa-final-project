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1430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Rental System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02920" y="2331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Object-Oriented Java Project using Inheritance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310896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0077A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10896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67128" y="310896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0077A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67128" y="310896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31336" y="310896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0077A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31336" y="310896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95544" y="310896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0077A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95544" y="310896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59752" y="310896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0077A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59752" y="310896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Computer Science A  •  QuickRent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88920" cy="397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278892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2412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What It Does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572768"/>
            <a:ext cx="2514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D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a fleet of rentable vehicles. Users can browse, search, rent, return, and inspect maintenance/insurance for every vehicle.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27832" y="868680"/>
            <a:ext cx="2788920" cy="397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27832" y="868680"/>
            <a:ext cx="278892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4992" y="102412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Start Condition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64992" y="1572768"/>
            <a:ext cx="2514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D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launches with 14 pre-loaded vehicles (Sedans, Coupes, SUVs, Motorcycles, Trucks) — all marked AVAILABLE.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81344" y="868680"/>
            <a:ext cx="2788920" cy="397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81344" y="868680"/>
            <a:ext cx="278892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02412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⏹  End Condition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18504" y="1572768"/>
            <a:ext cx="2514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D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 option 0 (Exit). Final state: any rented vehicles remain RENTED in memory until the process closes.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Hierarchy (Inheritance Tree)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0" y="822960"/>
            <a:ext cx="2743200" cy="640080"/>
          </a:xfrm>
          <a:prstGeom prst="rect">
            <a:avLst/>
          </a:prstGeom>
          <a:solidFill>
            <a:srgbClr val="0077A8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0" y="822960"/>
            <a:ext cx="27432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«abstract»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463040"/>
            <a:ext cx="0" cy="45720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1463040"/>
            <a:ext cx="-274320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1463040"/>
            <a:ext cx="0" cy="45720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463040"/>
            <a:ext cx="274320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1463040"/>
            <a:ext cx="0" cy="45720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920240"/>
            <a:ext cx="2743200" cy="640080"/>
          </a:xfrm>
          <a:prstGeom prst="rect">
            <a:avLst/>
          </a:prstGeom>
          <a:solidFill>
            <a:srgbClr val="1A3A5C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1920240"/>
            <a:ext cx="27432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«abstract»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1920240"/>
            <a:ext cx="1737360" cy="640080"/>
          </a:xfrm>
          <a:prstGeom prst="rect">
            <a:avLst/>
          </a:prstGeom>
          <a:solidFill>
            <a:srgbClr val="1A3A5C"/>
          </a:solidFill>
          <a:ln w="1905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" y="1920240"/>
            <a:ext cx="17373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Motorcycle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20840" y="1920240"/>
            <a:ext cx="1737360" cy="640080"/>
          </a:xfrm>
          <a:prstGeom prst="rect">
            <a:avLst/>
          </a:prstGeom>
          <a:solidFill>
            <a:srgbClr val="1A3A5C"/>
          </a:solidFill>
          <a:ln w="19050">
            <a:solidFill>
              <a:srgbClr val="FF9F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20840" y="1920240"/>
            <a:ext cx="17373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965960" y="2560320"/>
            <a:ext cx="448056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2560320"/>
            <a:ext cx="0" cy="27432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20240" y="2560320"/>
            <a:ext cx="0" cy="27432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834640"/>
            <a:ext cx="1737360" cy="640080"/>
          </a:xfrm>
          <a:prstGeom prst="rect">
            <a:avLst/>
          </a:prstGeom>
          <a:solidFill>
            <a:srgbClr val="163356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51560" y="2834640"/>
            <a:ext cx="17373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069080" y="2560320"/>
            <a:ext cx="0" cy="27432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2834640"/>
            <a:ext cx="1737360" cy="640080"/>
          </a:xfrm>
          <a:prstGeom prst="rect">
            <a:avLst/>
          </a:prstGeom>
          <a:solidFill>
            <a:srgbClr val="163356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00400" y="2834640"/>
            <a:ext cx="17373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0" y="2560320"/>
            <a:ext cx="0" cy="27432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49240" y="2834640"/>
            <a:ext cx="1737360" cy="640080"/>
          </a:xfrm>
          <a:prstGeom prst="rect">
            <a:avLst/>
          </a:prstGeom>
          <a:solidFill>
            <a:srgbClr val="163356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349240" y="2834640"/>
            <a:ext cx="17373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Suv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4160520"/>
            <a:ext cx="228600" cy="2286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41605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abstract class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91840" y="4160520"/>
            <a:ext cx="228600" cy="228600"/>
          </a:xfrm>
          <a:prstGeom prst="rect">
            <a:avLst/>
          </a:prstGeom>
          <a:solidFill>
            <a:srgbClr val="1A3A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84448" y="41605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/ concrete direct subclass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17920" y="4160520"/>
            <a:ext cx="228600" cy="228600"/>
          </a:xfrm>
          <a:prstGeom prst="rect">
            <a:avLst/>
          </a:prstGeom>
          <a:solidFill>
            <a:srgbClr val="16335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10528" y="41605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leaf class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Vehicle.java — The Parent Class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97680" cy="4114800"/>
          </a:xfrm>
          <a:prstGeom prst="rect">
            <a:avLst/>
          </a:prstGeom>
          <a:solidFill>
            <a:srgbClr val="1A2E4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68680"/>
            <a:ext cx="411480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abstract class </a:t>
            </a:r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Vehicle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
</a:t>
            </a:r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</a:t>
            </a:r>
            <a:pPr indent="0" marL="0">
              <a:buNone/>
            </a:pPr>
            <a:r>
              <a:rPr lang="en-US" sz="10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make, model;
</a:t>
            </a:r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</a:t>
            </a:r>
            <a:pPr indent="0" marL="0">
              <a:buNone/>
            </a:pPr>
            <a:r>
              <a:rPr lang="en-US" sz="10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dailyRentalRate;
</a:t>
            </a:r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</a:t>
            </a:r>
            <a:pPr indent="0" marL="0">
              <a:buNone/>
            </a:pPr>
            <a:r>
              <a:rPr lang="en-US" sz="10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available;
</a:t>
            </a:r>
            <a:pPr indent="0" marL="0">
              <a:buNone/>
            </a:pPr>
            <a:r>
              <a:rPr lang="en-US" sz="1050" i="1" dirty="0">
                <a:solidFill>
                  <a:srgbClr val="5E8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Abstract method — must override
</a:t>
            </a:r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abstract </a:t>
            </a:r>
            <a:pPr indent="0" marL="0">
              <a:buNone/>
            </a:pPr>
            <a:r>
              <a:rPr lang="en-US" sz="10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getVehicleType();
</a:t>
            </a:r>
            <a:pPr indent="0" marL="0">
              <a:buNone/>
            </a:pPr>
            <a:r>
              <a:rPr lang="en-US" sz="1050" i="1" dirty="0">
                <a:solidFill>
                  <a:srgbClr val="5E8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Shared behaviour
</a:t>
            </a:r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</a:t>
            </a:r>
            <a:pPr indent="0" marL="0">
              <a:buNone/>
            </a:pPr>
            <a:r>
              <a:rPr lang="en-US" sz="10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calculateTotalCost(</a:t>
            </a:r>
            <a:pPr indent="0" marL="0">
              <a:buNone/>
            </a:pPr>
            <a:r>
              <a:rPr lang="en-US" sz="10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days) {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(dailyRentalRate
           + insurancePerDay) * days;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800600" y="868680"/>
            <a:ext cx="4069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00600" y="868680"/>
            <a:ext cx="82296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56048" y="9052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(all private)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956048" y="11704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make, model, year, fuelType, dailyRentalRate, available, mileage, lastMaintenanceDate, maintenanceIntervalMiles, insurancePricePerDay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673352"/>
            <a:ext cx="4069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673352"/>
            <a:ext cx="82296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6048" y="17099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getVehicleType()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56048" y="197510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every concrete subclass to declare its own type string — cannot compile without it.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0600" y="2478024"/>
            <a:ext cx="4069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2478024"/>
            <a:ext cx="82296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56048" y="25146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calculateTotalCost(days)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56048" y="277977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(rate + insurance) × days. Subclasses override this to add surcharges (sports trim, tow package, etc.).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3282696"/>
            <a:ext cx="4069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3282696"/>
            <a:ext cx="82296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33192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rent() / returnVehicle()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956048" y="35844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available boolean flag. rent() returns false if already rented, preventing double-booking.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4087368"/>
            <a:ext cx="4069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4087368"/>
            <a:ext cx="82296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41239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isMaintenanceDue()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956048" y="43891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true when mileage ≥ maintenanceIntervalMiles, powering the maintenance report.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Subclasses — Sedan &amp; Coupe (extends Car extends Vehicle)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60520" cy="2286000"/>
          </a:xfrm>
          <a:prstGeom prst="rect">
            <a:avLst/>
          </a:prstGeom>
          <a:solidFill>
            <a:srgbClr val="1A2E42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77724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Sedan.java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39776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Sedan extends Car {
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safetyRating;
</a:t>
            </a:r>
            <a:pPr indent="0" marL="0">
              <a:buNone/>
            </a:pPr>
            <a:r>
              <a:rPr lang="en-US" sz="800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  // required by Vehicle
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String getVehicleType() {
    return "Sedan"; }
</a:t>
            </a:r>
            <a:pPr indent="0" marL="0">
              <a:buNone/>
            </a:pPr>
            <a:r>
              <a:rPr lang="en-US" sz="800" i="1" dirty="0">
                <a:solidFill>
                  <a:srgbClr val="5E8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5-star rating: 5% insurance discount
</a:t>
            </a:r>
            <a:pPr indent="0" marL="0">
              <a:buNone/>
            </a:pPr>
            <a:r>
              <a:rPr lang="en-US" sz="800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
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double calculateTotalCost(int days)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base = super.calculateTotalCost(days);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(safetyRating.startsWith("5"))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base -= insurancePerDay * 0.05 * days;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base;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709160" y="777240"/>
            <a:ext cx="4160520" cy="2286000"/>
          </a:xfrm>
          <a:prstGeom prst="rect">
            <a:avLst/>
          </a:prstGeom>
          <a:solidFill>
            <a:srgbClr val="1A2E42"/>
          </a:solidFill>
          <a:ln w="12700">
            <a:solidFill>
              <a:srgbClr val="FF9F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77724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Coupe.java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00600" y="1115568"/>
            <a:ext cx="39776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Coupe extends Car {
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boolean isSportsTrim;
</a:t>
            </a:r>
            <a:pPr indent="0" marL="0">
              <a:buNone/>
            </a:pPr>
            <a:r>
              <a:rPr lang="en-US" sz="800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  // required by Vehicle
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String getVehicleType() {
    return "Coupe"; }
</a:t>
            </a:r>
            <a:pPr indent="0" marL="0">
              <a:buNone/>
            </a:pPr>
            <a:r>
              <a:rPr lang="en-US" sz="800" i="1" dirty="0">
                <a:solidFill>
                  <a:srgbClr val="5E8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Sports trim: +10% surcharge
</a:t>
            </a:r>
            <a:pPr indent="0" marL="0">
              <a:buNone/>
            </a:pPr>
            <a:r>
              <a:rPr lang="en-US" sz="800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
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double calculateTotalCost(int days)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base = super.calculateTotalCost(days);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(isSportsTrim)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base *= 1.10;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base;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3200400"/>
            <a:ext cx="416052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3200400"/>
            <a:ext cx="4160520" cy="5486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26440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Sedan insight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3639312"/>
            <a:ext cx="3886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super.calculateTotalCost() reuses the parent formula — Sedan only adds its 5% discount on top. No duplicate math.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3200400"/>
            <a:ext cx="416052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9F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3200400"/>
            <a:ext cx="4160520" cy="54864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326440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Coupe insight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3639312"/>
            <a:ext cx="3886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@Override tells Java to replace the parent method. If you forget, both parent and child run — a subtle bug caught at compile time here.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Subclasses — Motorcycle &amp; Truck (extends Vehicle directly)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60520" cy="4114800"/>
          </a:xfrm>
          <a:prstGeom prst="rect">
            <a:avLst/>
          </a:prstGeom>
          <a:solidFill>
            <a:srgbClr val="1A2E42"/>
          </a:solidFill>
          <a:ln w="1905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77724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Motorcycle.java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Fields: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motorcycleStyle (Sport / Cruiser)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engineCC  •  mpg  •  hasSideCar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2128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@Override calculateTotalCost: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52374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calculateTotalCost adds +$3/day for sidecar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3063240"/>
            <a:ext cx="3822192" cy="777240"/>
          </a:xfrm>
          <a:prstGeom prst="rect">
            <a:avLst/>
          </a:prstGeom>
          <a:solidFill>
            <a:srgbClr val="0D1E2E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3090672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rent() triggers a ⚠ motorcycle-license warning in Main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395020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implement getVehicleType() — required by Vehicle.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777240"/>
            <a:ext cx="4160520" cy="4114800"/>
          </a:xfrm>
          <a:prstGeom prst="rect">
            <a:avLst/>
          </a:prstGeom>
          <a:solidFill>
            <a:srgbClr val="1A2E42"/>
          </a:solidFill>
          <a:ln w="19050">
            <a:solidFill>
              <a:srgbClr val="FF9F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77724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Truck.java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188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Fields: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148132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payloadCapacityTons  •  bedSize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hasFourWheelDrive  •  numAxles  •  mpg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2128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@Override calculateTotalCost: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52374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calculateTotalCost adds +$10/day for payload ≥ 2 tons (commercial use)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73752" y="3063240"/>
            <a:ext cx="3822192" cy="777240"/>
          </a:xfrm>
          <a:prstGeom prst="rect">
            <a:avLst/>
          </a:prstGeom>
          <a:solidFill>
            <a:srgbClr val="0D1E2E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65192" y="3090672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 check: if (payloadCapacityTons &gt;= 2.0) base += 10.00 * days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92040" y="395020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implement getVehicleType() — required by Vehicle.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RentalSystem.java — Polymorphism in Action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594360"/>
          </a:xfrm>
          <a:prstGeom prst="rect">
            <a:avLst/>
          </a:prstGeom>
          <a:solidFill>
            <a:srgbClr val="16294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0467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ArrayList&lt;</a:t>
            </a:r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fleet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one list that holds Sedan, Coupe, SUV, Motorcycle, and Truck objects simultaneously.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816352" cy="3429000"/>
          </a:xfrm>
          <a:prstGeom prst="rect">
            <a:avLst/>
          </a:prstGeom>
          <a:solidFill>
            <a:srgbClr val="162944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55448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search(type, fuelType, maxRate)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29968"/>
            <a:ext cx="2633472" cy="1554480"/>
          </a:xfrm>
          <a:prstGeom prst="rect">
            <a:avLst/>
          </a:prstGeom>
          <a:solidFill>
            <a:srgbClr val="1A2E42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2057400"/>
            <a:ext cx="2487168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(Vehicle v : fleet)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(v.getVehicleType()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.equalsIgnoreCase(type)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&amp;&amp; v.isAvailable())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result.add(v);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3657600"/>
            <a:ext cx="263347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for-each loop over Vehicle references — Java calls each object's real getVehicleType() at runtime (polymorphism).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27832" y="1508760"/>
            <a:ext cx="2816352" cy="3429000"/>
          </a:xfrm>
          <a:prstGeom prst="rect">
            <a:avLst/>
          </a:prstGeom>
          <a:solidFill>
            <a:srgbClr val="162944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19272" y="155448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getMaintenanceDueVehicles()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19272" y="2029968"/>
            <a:ext cx="2633472" cy="1554480"/>
          </a:xfrm>
          <a:prstGeom prst="rect">
            <a:avLst/>
          </a:prstGeom>
          <a:solidFill>
            <a:srgbClr val="1A2E42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92424" y="2057400"/>
            <a:ext cx="2487168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(Vehicle v : fleet)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(v.isMaintenanceDue())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result.add(v);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19272" y="3657600"/>
            <a:ext cx="263347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class method reused for all types — no duplicated logic per vehicle type.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81344" y="1508760"/>
            <a:ext cx="2816352" cy="3429000"/>
          </a:xfrm>
          <a:prstGeom prst="rect">
            <a:avLst/>
          </a:prstGeom>
          <a:solidFill>
            <a:srgbClr val="162944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72784" y="155448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printVehicleList() [static]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72784" y="2029968"/>
            <a:ext cx="2633472" cy="1554480"/>
          </a:xfrm>
          <a:prstGeom prst="rect">
            <a:avLst/>
          </a:prstGeom>
          <a:solidFill>
            <a:srgbClr val="1A2E42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45936" y="2057400"/>
            <a:ext cx="2487168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i=0; i&lt;list.size(); i++)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System.out.println(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(i+1)+". "+list.get(i));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72784" y="3657600"/>
            <a:ext cx="263347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list.get(i) calls each object's overridden toString() — Java dispatches to the correct subclass at runtime.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Features &amp; CLI Demo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0116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778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Search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type, fuel (Gas/EV/Hybrid), and max daily rate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23160" y="804672"/>
            <a:ext cx="20116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8778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Rent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14600" y="1261872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 vehicle as RENTED; shows total cost estimate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157984"/>
            <a:ext cx="20116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223113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Return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2615184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only rented vehicles; restores AVAILABLE status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23160" y="2157984"/>
            <a:ext cx="20116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14600" y="223113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Rates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14600" y="2615184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type, vehicle, rate/day, insurance/day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511296"/>
            <a:ext cx="20116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35844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Maintenance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3968496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Per-vehicle status + overdue list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23160" y="3511296"/>
            <a:ext cx="20116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14600" y="35844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Insurance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514600" y="3968496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Per-vehicle insurance price + 3-day estimate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777240"/>
            <a:ext cx="4251960" cy="4114800"/>
          </a:xfrm>
          <a:prstGeom prst="rect">
            <a:avLst/>
          </a:prstGeom>
          <a:solidFill>
            <a:srgbClr val="111827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886968"/>
            <a:ext cx="164592" cy="16459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10912" y="886968"/>
            <a:ext cx="164592" cy="164592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66944" y="886968"/>
            <a:ext cx="164592" cy="16459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java Main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63440" y="1389888"/>
            <a:ext cx="41148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╔══════════════════════════╗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║  QuickRent Vehicle Rental║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╠══════════════════════════╣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║ 1. View all vehicles     ║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║ 2. View available        ║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║ 3. Search vehicles       ║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║ 4. Rent a vehicle        ║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║ 5. Return a vehicle      ║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║ 6. View rates &amp; cost     ║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║ 7. Maintenance schedule  ║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║ 8. Insurance prices      ║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║ 0. Exit                  ║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╚══════════════════════════╝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Choice: _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CSA Concepts Used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960120"/>
          </a:xfrm>
          <a:prstGeom prst="rect">
            <a:avLst/>
          </a:prstGeom>
          <a:solidFill>
            <a:srgbClr val="162944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91440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3210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0700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→ Car → Coupe/Sedan/SUV; Vehicle → Motorcycle/Truck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777240"/>
            <a:ext cx="4114800" cy="960120"/>
          </a:xfrm>
          <a:prstGeom prst="rect">
            <a:avLst/>
          </a:prstGeom>
          <a:solidFill>
            <a:srgbClr val="162944"/>
          </a:solidFill>
          <a:ln w="1905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777240"/>
            <a:ext cx="91440" cy="9601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83210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Classes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20700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and Car cannot be instantiated — they define the contract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1828800"/>
            <a:ext cx="4114800" cy="960120"/>
          </a:xfrm>
          <a:prstGeom prst="rect">
            <a:avLst/>
          </a:prstGeom>
          <a:solidFill>
            <a:srgbClr val="162944"/>
          </a:solidFill>
          <a:ln w="19050">
            <a:solidFill>
              <a:srgbClr val="FF9F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828800"/>
            <a:ext cx="91440" cy="96012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88366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Overriding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25856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@Override getVehicleType() and calculateTotalCost() in every subclass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1828800"/>
            <a:ext cx="4114800" cy="960120"/>
          </a:xfrm>
          <a:prstGeom prst="rect">
            <a:avLst/>
          </a:prstGeom>
          <a:solidFill>
            <a:srgbClr val="162944"/>
          </a:solidFill>
          <a:ln w="19050">
            <a:solidFill>
              <a:srgbClr val="9B5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828800"/>
            <a:ext cx="91440" cy="96012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88366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super() calls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25856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child constructor passes args up to parent using super(...)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880360"/>
            <a:ext cx="4114800" cy="960120"/>
          </a:xfrm>
          <a:prstGeom prst="rect">
            <a:avLst/>
          </a:prstGeom>
          <a:solidFill>
            <a:srgbClr val="162944"/>
          </a:solidFill>
          <a:ln w="19050">
            <a:solidFill>
              <a:srgbClr val="F725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880360"/>
            <a:ext cx="91440" cy="96012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3522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31012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Vehicle fields are private; accessed only through getters/setters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2880360"/>
            <a:ext cx="4114800" cy="960120"/>
          </a:xfrm>
          <a:prstGeom prst="rect">
            <a:avLst/>
          </a:prstGeom>
          <a:solidFill>
            <a:srgbClr val="162944"/>
          </a:solidFill>
          <a:ln w="19050">
            <a:solidFill>
              <a:srgbClr val="4CC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880360"/>
            <a:ext cx="91440" cy="96012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93522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92040" y="331012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ArrayList&lt;Vehicle&gt; holds all types; for-each calls overridden methods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3931920"/>
            <a:ext cx="4114800" cy="960120"/>
          </a:xfrm>
          <a:prstGeom prst="rect">
            <a:avLst/>
          </a:prstGeom>
          <a:solidFill>
            <a:srgbClr val="162944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931920"/>
            <a:ext cx="91440" cy="9601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98678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436168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RentalSystem stores and iterates the entire fleet in one collection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9160" y="3931920"/>
            <a:ext cx="4114800" cy="960120"/>
          </a:xfrm>
          <a:prstGeom prst="rect">
            <a:avLst/>
          </a:prstGeom>
          <a:solidFill>
            <a:srgbClr val="162944"/>
          </a:solidFill>
          <a:ln w="19050">
            <a:solidFill>
              <a:srgbClr val="A3E6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3931920"/>
            <a:ext cx="91440" cy="960120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98678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instanceof + casting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892040" y="436168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Main.java: if (v instanceof Motorcycle) → show license warning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Takeaways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8321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Java classes: 1 abstract root, 1 abstract mid-tier, 5 concrete subclasses, 1 fleet manager, 1 CLI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eliminates duplicate code — rent(), returnVehicle(), calculateTotalCost() defined once in Vehicle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 lets RentalSystem work entirely through Vehicle references — no type-checking in the fleet loop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vehicle type adds unique fields and overrides to customize behaviour without touching parent code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covers all rubric requirements: view, search (type/fuel/rate), rent, return, rates, maintenance, insurance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4005072"/>
            <a:ext cx="8321040" cy="731520"/>
          </a:xfrm>
          <a:prstGeom prst="rect">
            <a:avLst/>
          </a:prstGeom>
          <a:solidFill>
            <a:srgbClr val="1A2E4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4032504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javac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*.java</a:t>
            </a:r>
            <a:pPr indent="0" marL="0">
              <a:buNone/>
            </a:pPr>
            <a:r>
              <a:rPr lang="en-US" sz="1400" dirty="0">
                <a:solidFill>
                  <a:srgbClr val="8EAF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  </a:t>
            </a:r>
            <a:pPr indent="0" marL="0">
              <a:buNone/>
            </a:pPr>
            <a:r>
              <a:rPr lang="en-US" sz="1400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buNone/>
            </a:pPr>
            <a:r>
              <a:rPr lang="en-US" sz="1400" i="1" dirty="0">
                <a:solidFill>
                  <a:srgbClr val="8EAF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(requires JDK 11+)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Vehicle Rental System — AP CSA Project</dc:title>
  <dc:subject>PptxGenJS Presentation</dc:subject>
  <dc:creator>PptxGenJS</dc:creator>
  <cp:lastModifiedBy>PptxGenJS</cp:lastModifiedBy>
  <cp:revision>1</cp:revision>
  <dcterms:created xsi:type="dcterms:W3CDTF">2026-05-25T05:46:50Z</dcterms:created>
  <dcterms:modified xsi:type="dcterms:W3CDTF">2026-05-25T05:46:50Z</dcterms:modified>
</cp:coreProperties>
</file>